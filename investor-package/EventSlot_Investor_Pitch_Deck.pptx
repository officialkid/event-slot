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7516db36284757" /><Relationship Type="http://schemas.openxmlformats.org/officeDocument/2006/relationships/extended-properties" Target="/docProps/app.xml" Id="R9ed140bc8cf84698" /><Relationship Type="http://schemas.openxmlformats.org/officeDocument/2006/relationships/officeDocument" Target="/ppt/presentation.xml" Id="Rc31830fc50f64e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5d09d553734888"/>
  </p:sldMasterIdLst>
  <p:notesMasterIdLst>
    <p:notesMasterId xmlns:r="http://schemas.openxmlformats.org/officeDocument/2006/relationships" r:id="Rf5220f3f94a44a4a"/>
  </p:notesMasterIdLst>
  <p:sldIdLst>
    <p:sldId xmlns:r="http://schemas.openxmlformats.org/officeDocument/2006/relationships" id="256" r:id="R25392946f30e427a"/>
    <p:sldId xmlns:r="http://schemas.openxmlformats.org/officeDocument/2006/relationships" id="257" r:id="R22c7e90274ad4273"/>
    <p:sldId xmlns:r="http://schemas.openxmlformats.org/officeDocument/2006/relationships" id="258" r:id="R38f6d63cfe664dec"/>
    <p:sldId xmlns:r="http://schemas.openxmlformats.org/officeDocument/2006/relationships" id="259" r:id="R8cc81651bcc64e2a"/>
    <p:sldId xmlns:r="http://schemas.openxmlformats.org/officeDocument/2006/relationships" id="260" r:id="R0357978ec0914e64"/>
    <p:sldId xmlns:r="http://schemas.openxmlformats.org/officeDocument/2006/relationships" id="261" r:id="Ra852d392594c4fb7"/>
    <p:sldId xmlns:r="http://schemas.openxmlformats.org/officeDocument/2006/relationships" id="262" r:id="R8b35d01daa5d4408"/>
    <p:sldId xmlns:r="http://schemas.openxmlformats.org/officeDocument/2006/relationships" id="263" r:id="R0df77bdd4a4f4969"/>
    <p:sldId xmlns:r="http://schemas.openxmlformats.org/officeDocument/2006/relationships" id="264" r:id="R0ab797eba7d24419"/>
    <p:sldId xmlns:r="http://schemas.openxmlformats.org/officeDocument/2006/relationships" id="265" r:id="Re64128cd26ee45fa"/>
    <p:sldId xmlns:r="http://schemas.openxmlformats.org/officeDocument/2006/relationships" id="266" r:id="R6ee7b87ce6644717"/>
    <p:sldId xmlns:r="http://schemas.openxmlformats.org/officeDocument/2006/relationships" id="267" r:id="R3420f569f3564211"/>
    <p:sldId xmlns:r="http://schemas.openxmlformats.org/officeDocument/2006/relationships" id="268" r:id="R7e0bdf6855914f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1581e2416b471a" /><Relationship Type="http://schemas.openxmlformats.org/officeDocument/2006/relationships/slideMaster" Target="/ppt/slideMasters/slideMaster1.xml" Id="R755d09d553734888" /><Relationship Type="http://schemas.openxmlformats.org/officeDocument/2006/relationships/notesMaster" Target="/ppt/notesMasters/notesMaster1.xml" Id="Rf5220f3f94a44a4a" /><Relationship Type="http://schemas.openxmlformats.org/officeDocument/2006/relationships/presProps" Target="/ppt/presProps.xml" Id="Rac5559984f744fef" /><Relationship Type="http://schemas.openxmlformats.org/officeDocument/2006/relationships/tableStyles" Target="/ppt/tableStyles.xml" Id="R90e51e8815704952" /><Relationship Type="http://schemas.openxmlformats.org/officeDocument/2006/relationships/slide" Target="/ppt/slides/slide1.xml" Id="R25392946f30e427a" /><Relationship Type="http://schemas.openxmlformats.org/officeDocument/2006/relationships/slide" Target="/ppt/slides/slide2.xml" Id="R22c7e90274ad4273" /><Relationship Type="http://schemas.openxmlformats.org/officeDocument/2006/relationships/slide" Target="/ppt/slides/slide3.xml" Id="R38f6d63cfe664dec" /><Relationship Type="http://schemas.openxmlformats.org/officeDocument/2006/relationships/slide" Target="/ppt/slides/slide4.xml" Id="R8cc81651bcc64e2a" /><Relationship Type="http://schemas.openxmlformats.org/officeDocument/2006/relationships/slide" Target="/ppt/slides/slide5.xml" Id="R0357978ec0914e64" /><Relationship Type="http://schemas.openxmlformats.org/officeDocument/2006/relationships/slide" Target="/ppt/slides/slide6.xml" Id="Ra852d392594c4fb7" /><Relationship Type="http://schemas.openxmlformats.org/officeDocument/2006/relationships/slide" Target="/ppt/slides/slide7.xml" Id="R8b35d01daa5d4408" /><Relationship Type="http://schemas.openxmlformats.org/officeDocument/2006/relationships/slide" Target="/ppt/slides/slide8.xml" Id="R0df77bdd4a4f4969" /><Relationship Type="http://schemas.openxmlformats.org/officeDocument/2006/relationships/slide" Target="/ppt/slides/slide9.xml" Id="R0ab797eba7d24419" /><Relationship Type="http://schemas.openxmlformats.org/officeDocument/2006/relationships/slide" Target="/ppt/slides/slide10.xml" Id="Re64128cd26ee45fa" /><Relationship Type="http://schemas.openxmlformats.org/officeDocument/2006/relationships/slide" Target="/ppt/slides/slide11.xml" Id="R6ee7b87ce6644717" /><Relationship Type="http://schemas.openxmlformats.org/officeDocument/2006/relationships/slide" Target="/ppt/slides/slide12.xml" Id="R3420f569f3564211" /><Relationship Type="http://schemas.openxmlformats.org/officeDocument/2006/relationships/slide" Target="/ppt/slides/slide13.xml" Id="R7e0bdf6855914f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9b8497ae754d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9a31155e174cd0" /><Relationship Type="http://schemas.openxmlformats.org/officeDocument/2006/relationships/notesMaster" Target="/ppt/notesMasters/notesMaster1.xml" Id="Rc02c2a8f26604a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a60efae13e442d" /><Relationship Type="http://schemas.openxmlformats.org/officeDocument/2006/relationships/notesMaster" Target="/ppt/notesMasters/notesMaster1.xml" Id="R22a9b0474b4345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fd09638212483b" /><Relationship Type="http://schemas.openxmlformats.org/officeDocument/2006/relationships/notesMaster" Target="/ppt/notesMasters/notesMaster1.xml" Id="R9b26d5882cd747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47cf3c0fbd43e2" /><Relationship Type="http://schemas.openxmlformats.org/officeDocument/2006/relationships/notesMaster" Target="/ppt/notesMasters/notesMaster1.xml" Id="R436ec9cd7ddf4a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81dda9a4ed4b51" /><Relationship Type="http://schemas.openxmlformats.org/officeDocument/2006/relationships/notesMaster" Target="/ppt/notesMasters/notesMaster1.xml" Id="R7a0d7445f5bc45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a67fa71020403f" /><Relationship Type="http://schemas.openxmlformats.org/officeDocument/2006/relationships/notesMaster" Target="/ppt/notesMasters/notesMaster1.xml" Id="R3ed66710c1d64c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d585f8d6e7440b" /><Relationship Type="http://schemas.openxmlformats.org/officeDocument/2006/relationships/notesMaster" Target="/ppt/notesMasters/notesMaster1.xml" Id="Rf48174954f6b42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7ce371416c4226" /><Relationship Type="http://schemas.openxmlformats.org/officeDocument/2006/relationships/notesMaster" Target="/ppt/notesMasters/notesMaster1.xml" Id="Re8e8dda324764a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d41de625a84aea" /><Relationship Type="http://schemas.openxmlformats.org/officeDocument/2006/relationships/notesMaster" Target="/ppt/notesMasters/notesMaster1.xml" Id="Rbcec5d03a49a4c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fd42a6530048a8" /><Relationship Type="http://schemas.openxmlformats.org/officeDocument/2006/relationships/notesMaster" Target="/ppt/notesMasters/notesMaster1.xml" Id="R0ce85c4ae1a44d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bf025794ca4ed5" /><Relationship Type="http://schemas.openxmlformats.org/officeDocument/2006/relationships/notesMaster" Target="/ppt/notesMasters/notesMaster1.xml" Id="R40337a98685b46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5eae5d672a42a4" /><Relationship Type="http://schemas.openxmlformats.org/officeDocument/2006/relationships/notesMaster" Target="/ppt/notesMasters/notesMaster1.xml" Id="Rea87c27adb8b49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afd6fdf3dc432b" /><Relationship Type="http://schemas.openxmlformats.org/officeDocument/2006/relationships/notesMaster" Target="/ppt/notesMasters/notesMaster1.xml" Id="R1ce2c24c5c904e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EventSlot traction snapshot as of August 6, 2026; investor-package/data-room/traction_snapshot.json</a:t>
            </a:r>
          </a:p>
          <a:p xmlns:a="http://schemas.openxmlformats.org/drawingml/2006/main">
            <a:r>
              <a:t>- Internal round terms and use-of-funds assumptions prepared for this investor package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EventSlot traction snapshot as of August 6, 2026; investor-package/data-room/traction_snapshot.json</a:t>
            </a:r>
          </a:p>
          <a:p xmlns:a="http://schemas.openxmlformats.org/drawingml/2006/main">
            <a:r>
              <a:t>- Internal round terms and use-of-funds assumptions prepared for this investor package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EventSlot traction snapshot as of August 6, 2026; investor-package/data-room/traction_snapshot.json</a:t>
            </a:r>
          </a:p>
          <a:p xmlns:a="http://schemas.openxmlformats.org/drawingml/2006/main">
            <a:r>
              <a:t>- Internal round terms and use-of-funds assumptions prepared for this investor package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EventSlot traction snapshot as of August 6, 2026; investor-package/data-room/traction_snapshot.json</a:t>
            </a:r>
          </a:p>
          <a:p xmlns:a="http://schemas.openxmlformats.org/drawingml/2006/main">
            <a:r>
              <a:t>- Internal round terms and use-of-funds assumptions prepared for this investor package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EventSlot traction snapshot as of August 6, 2026; investor-package/data-room/traction_snapshot.json</a:t>
            </a:r>
          </a:p>
          <a:p xmlns:a="http://schemas.openxmlformats.org/drawingml/2006/main">
            <a:r>
              <a:t>- Internal round terms and use-of-funds assumptions prepared for this investor package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EventSlot traction snapshot as of August 6, 2026; investor-package/data-room/traction_snapshot.json</a:t>
            </a:r>
          </a:p>
          <a:p xmlns:a="http://schemas.openxmlformats.org/drawingml/2006/main">
            <a:r>
              <a:t>- Internal round terms and use-of-funds assumptions prepared for this investor package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EventSlot traction snapshot as of August 6, 2026; investor-package/data-room/traction_snapshot.json</a:t>
            </a:r>
          </a:p>
          <a:p xmlns:a="http://schemas.openxmlformats.org/drawingml/2006/main">
            <a:r>
              <a:t>- Internal round terms and use-of-funds assumptions prepared for this investor package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EventSlot traction snapshot as of August 6, 2026; investor-package/data-room/traction_snapshot.json</a:t>
            </a:r>
          </a:p>
          <a:p xmlns:a="http://schemas.openxmlformats.org/drawingml/2006/main">
            <a:r>
              <a:t>- Internal round terms and use-of-funds assumptions prepared for this investor package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EventSlot traction snapshot as of August 6, 2026; investor-package/data-room/traction_snapshot.json</a:t>
            </a:r>
          </a:p>
          <a:p xmlns:a="http://schemas.openxmlformats.org/drawingml/2006/main">
            <a:r>
              <a:t>- Internal round terms and use-of-funds assumptions prepared for this investor package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EventSlot traction snapshot as of August 6, 2026; investor-package/data-room/traction_snapshot.json</a:t>
            </a:r>
          </a:p>
          <a:p xmlns:a="http://schemas.openxmlformats.org/drawingml/2006/main">
            <a:r>
              <a:t>- Internal round terms and use-of-funds assumptions prepared for this investor package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EventSlot traction snapshot as of August 6, 2026; investor-package/data-room/traction_snapshot.json</a:t>
            </a:r>
          </a:p>
          <a:p xmlns:a="http://schemas.openxmlformats.org/drawingml/2006/main">
            <a:r>
              <a:t>- Internal round terms and use-of-funds assumptions prepared for this investor package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EventSlot traction snapshot as of August 6, 2026; investor-package/data-room/traction_snapshot.json</a:t>
            </a:r>
          </a:p>
          <a:p xmlns:a="http://schemas.openxmlformats.org/drawingml/2006/main">
            <a:r>
              <a:t>- Internal round terms and use-of-funds assumptions prepared for this investor package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EventSlot traction snapshot as of August 6, 2026; investor-package/data-room/traction_snapshot.json</a:t>
            </a:r>
          </a:p>
          <a:p xmlns:a="http://schemas.openxmlformats.org/drawingml/2006/main">
            <a:r>
              <a:t>- Internal round terms and use-of-funds assumptions prepared for this investor package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7bb1c6fc147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2b991decd645e5" /><Relationship Type="http://schemas.openxmlformats.org/officeDocument/2006/relationships/slideLayout" Target="/ppt/slideLayouts/slideLayout1.xml" Id="R3ee53beb09c448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e53beb09c448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119fc6cdb47b4" /><Relationship Type="http://schemas.openxmlformats.org/officeDocument/2006/relationships/notesSlide" Target="/ppt/notesSlides/notesSlide1.xml" Id="Rde894b004e5d4c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6aa8842f24bb2" /><Relationship Type="http://schemas.openxmlformats.org/officeDocument/2006/relationships/notesSlide" Target="/ppt/notesSlides/notesSlide2.xml" Id="R53f5a775051f44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0cc03df60426f" /><Relationship Type="http://schemas.openxmlformats.org/officeDocument/2006/relationships/notesSlide" Target="/ppt/notesSlides/notesSlide3.xml" Id="R9c90b52d59c54f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4ef93e0164513" /><Relationship Type="http://schemas.openxmlformats.org/officeDocument/2006/relationships/notesSlide" Target="/ppt/notesSlides/notesSlide4.xml" Id="Re29dfa5ed51149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0cadb471641b9" /><Relationship Type="http://schemas.openxmlformats.org/officeDocument/2006/relationships/notesSlide" Target="/ppt/notesSlides/notesSlide5.xml" Id="R0cbb3dd838f748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adc1aa49b4b5e" /><Relationship Type="http://schemas.openxmlformats.org/officeDocument/2006/relationships/notesSlide" Target="/ppt/notesSlides/notesSlide6.xml" Id="Rfca9bb651aad43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c4e7b66b34a67" /><Relationship Type="http://schemas.openxmlformats.org/officeDocument/2006/relationships/notesSlide" Target="/ppt/notesSlides/notesSlide7.xml" Id="Re2c2b9aa8fd848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91f622915423e" /><Relationship Type="http://schemas.openxmlformats.org/officeDocument/2006/relationships/notesSlide" Target="/ppt/notesSlides/notesSlide8.xml" Id="R55cdc008a5fc45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a4a330d6d4214" /><Relationship Type="http://schemas.openxmlformats.org/officeDocument/2006/relationships/notesSlide" Target="/ppt/notesSlides/notesSlide9.xml" Id="R6adb463a717941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a39571c7a4736" /><Relationship Type="http://schemas.openxmlformats.org/officeDocument/2006/relationships/chart" Target="/ppt/slides/charts/chart1.xml" Id="R0eca361bbb3c4742" /><Relationship Type="http://schemas.openxmlformats.org/officeDocument/2006/relationships/notesSlide" Target="/ppt/notesSlides/notesSlide10.xml" Id="Rb6916b0d7db54c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df2189d584932" /><Relationship Type="http://schemas.openxmlformats.org/officeDocument/2006/relationships/notesSlide" Target="/ppt/notesSlides/notesSlide11.xml" Id="Rbbd375adb6f140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b12d0b9384279" /><Relationship Type="http://schemas.openxmlformats.org/officeDocument/2006/relationships/notesSlide" Target="/ppt/notesSlides/notesSlide12.xml" Id="R0b6b39ab949549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9a8be864841ba" /><Relationship Type="http://schemas.openxmlformats.org/officeDocument/2006/relationships/notesSlide" Target="/ppt/notesSlides/notesSlide13.xml" Id="R77d3c027ea8748e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USD allocation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Product</c:v>
              </c:pt>
              <c:pt idx="1">
                <c:v>Growth</c:v>
              </c:pt>
              <c:pt idx="2">
                <c:v>Support</c:v>
              </c:pt>
              <c:pt idx="3">
                <c:v>Security</c:v>
              </c:pt>
              <c:pt idx="4">
                <c:v>Cloud</c:v>
              </c:pt>
              <c:pt idx="5">
                <c:v>Reserve</c:v>
              </c:pt>
            </c:strLit>
          </c:cat>
          <c:val>
            <c:numLit>
              <c:formatCode>General</c:formatCode>
              <c:ptCount val="6"/>
              <c:pt idx="0">
                <c:v>28000</c:v>
              </c:pt>
              <c:pt idx="1">
                <c:v>25000</c:v>
              </c:pt>
              <c:pt idx="2">
                <c:v>14000</c:v>
              </c:pt>
              <c:pt idx="3">
                <c:v>12000</c:v>
              </c:pt>
              <c:pt idx="4">
                <c:v>13000</c:v>
              </c:pt>
              <c:pt idx="5">
                <c:v>8000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4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E496B-7AB4-42C1-B10F-10A80B2D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16B"/>
                </a:solidFill>
              </a:defRPr>
            </a:pPr>
            <a:r>
              <a:rPr sz="900" b="1">
                <a:solidFill>
                  <a:srgbClr val="5B616B"/>
                </a:solidFill>
              </a:rPr>
              <a:t>EVENTSLOT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52F1C-9AF3-454A-A93F-303C8852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A working event operations platform for organizers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FBBF0-CA95-446A-ACDC-197C63D1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16B"/>
                </a:solidFill>
              </a:defRPr>
            </a:pPr>
            <a:r>
              <a:rPr sz="1800" b="0">
                <a:solidFill>
                  <a:srgbClr val="5B616B"/>
                </a:solidFill>
              </a:rPr>
              <a:t>Raising USD 100,000 for 10% equity to turn early usage into repeatable growth and paid conversion.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4F050-D8CB-4D97-AB10-3A262BA3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990600"/>
            <a:ext cx="3295650" cy="4362450"/>
          </a:xfrm>
          <a:prstGeom xmlns:a="http://schemas.openxmlformats.org/drawingml/2006/main" prst="roundRect">
            <a:avLst>
              <a:gd name="adj" fmla="val 173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0098F-E97F-4C25-8696-465ABA57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95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33427-45BD-465F-919F-8609EC78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02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USD 100,000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A613E-F46C-4535-A1CC-342B8944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Pre-money 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13C69-7CC5-43A9-B353-248166E8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289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USD 900,000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73429-B6EA-4316-BCEE-FB798363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14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Post-money 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8F36A-F0A6-4A13-92A8-877F6161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USD 1,000,000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4A6C1-C4C3-43C5-8699-0800DC6B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Runway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2C4D2-BA3C-43B0-B332-7D8FB16F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12 months base,</a:t>
            </a:r>
          </a:p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stretchable toward 18 months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1D4BF-2EE4-406E-8C33-9BFE4B7F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EventSlot | Nairobi, Kenya | August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D919D-7FC9-4603-BA1D-BB9A2FEE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43867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FBC9CE-2D35-4F6D-8A8D-2C228A10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16B"/>
                </a:solidFill>
              </a:defRPr>
            </a:pPr>
            <a:r>
              <a:rPr sz="900" b="1">
                <a:solidFill>
                  <a:srgbClr val="5B616B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DBD7E-1495-4985-8CE0-921433E8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Event organizers still run one event across too many disconnected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AD2C3-00D3-426A-8379-6372F329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The result is manual work, weak visibility, and a messy attendee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6FB09-FAB4-47A7-B892-3F3A5FD6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71700"/>
            <a:ext cx="2571750" cy="2571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BAE71-5BDC-44FD-A695-CD795471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Registration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1D340-7D37-4BEB-A2B0-A309D5A6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22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B2513-BE45-4EA5-9B29-7A1A3ACB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228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Google Forms or messages collect names, but operations remain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43DC8-6998-44F2-9347-D1FAB59B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71700"/>
            <a:ext cx="2571750" cy="2571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E32D0-6F99-444C-B280-2275ACE7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622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Communication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4074B-66B2-4227-8CBF-AD304BB5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43200"/>
            <a:ext cx="222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88CD6-1CA3-48DA-9ACA-22786828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71800"/>
            <a:ext cx="2228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WhatsApp becomes the default inbox, with no clean event record.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05026-770C-439F-A1C1-07C69D04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2571750" cy="2571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670F0-BC37-42B0-BCE5-0A66E307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622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Payments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BBDD5-B59D-4295-976B-FEF2159B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43200"/>
            <a:ext cx="222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E504A-306C-4EE7-86E4-4B1273BE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71800"/>
            <a:ext cx="2228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Mobile money confirmation is often handled manually and reconciled late.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C3838-8578-4E50-B0B3-78AA53A6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71700"/>
            <a:ext cx="2571750" cy="2571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01007-7423-4CBD-AAA3-C19E3BA8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622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Attendance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7A7BAA-EAB1-42CD-A02B-FDB8CD6B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43200"/>
            <a:ext cx="222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6062A-07C8-4558-B051-F77A690C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228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Check-in happens on paper, spreadsheets, or improvised lists.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C9359D-7CFB-42AE-B447-E8527DC0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EventSlot investor deck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55786F-EC37-4352-8A43-F32AD5F5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060062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08ED8E-CAB3-49D9-BCFD-05219239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16B"/>
                </a:solidFill>
              </a:defRPr>
            </a:pPr>
            <a:r>
              <a:rPr sz="900" b="1">
                <a:solidFill>
                  <a:srgbClr val="5B616B"/>
                </a:solidFill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47FFB-A351-4DB9-96C6-183328FE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EventSlot gives organizers one operating workflow from setup to event-day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5DC16-DF10-4A8F-8C72-E100FD57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Instead of switching between tools, organizers can create, manage, verify, and review events in one place.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C78C7-48C3-48F8-B1DA-D06CEBEE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8204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5ABC2-E7C4-4479-8B41-69D9EC36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1. Create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7A56A-0C86-412B-A28D-E87B6318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9825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Set up event details, registration flow, questions, and capacity.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170B9-8D2F-4D80-B079-73A389C3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8204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13685-ABD8-44A2-8F32-D52EFEF7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432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2. Share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E7DC4-3880-4EBD-8F81-35835823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24225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Publish one event link attendees can use to register.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EE87D-14ED-4460-8710-66B33097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8204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AB8EF-4E60-4B5E-BA93-B43C530D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3. Manage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1B62C-AB85-4482-AD87-86B48D0F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38625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Track registrations, waitlists, attendee records, and operational status.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8E449-8290-466E-BE8C-EA38D1C6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8204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AFDF1-5019-4005-B770-9DCA51CB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720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4. Deliver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F68D7-6F68-4BCF-9013-73452D7D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53025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Support verification, event-day attendance handling, and reporting.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04C6D-F8EE-4839-8BF8-4E506559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EventSlot investor deck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559118-9362-4ED7-8F24-023512D4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001368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AC93EF-6B94-426A-83A9-D29F1962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16B"/>
                </a:solidFill>
              </a:defRPr>
            </a:pPr>
            <a:r>
              <a:rPr sz="900" b="1">
                <a:solidFill>
                  <a:srgbClr val="5B616B"/>
                </a:solidFill>
              </a:rPr>
              <a:t>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2E69C-F7B8-40F0-84E0-ED8908E7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EventSlot already has live usage, even though monetization is still early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248A9-E97E-45FB-9B5C-76EB7AE2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Verified platform snapshot as of August 6, 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EE4B3-CEEA-4536-8472-9541766C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766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CD7B4-0530-46DE-A847-3B1CED8E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16B"/>
                </a:solidFill>
              </a:defRPr>
            </a:pPr>
            <a:r>
              <a:rPr sz="1125" b="1">
                <a:solidFill>
                  <a:srgbClr val="5B616B"/>
                </a:solidFill>
              </a:rPr>
              <a:t>Users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F0B3F-AAB5-46CB-9024-4889852C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E665B-268E-470F-85BF-7F9EE653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32766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833CD-927F-404A-9DE2-29E5CE7D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16B"/>
                </a:solidFill>
              </a:defRPr>
            </a:pPr>
            <a:r>
              <a:rPr sz="1125" b="1">
                <a:solidFill>
                  <a:srgbClr val="5B616B"/>
                </a:solidFill>
              </a:rPr>
              <a:t>Events created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AB9D5-7556-4CCB-9B31-0A4E1F5A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56C63-971C-4E89-A5A7-C6B04BA6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32766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24031-3279-4096-8AC1-9F581F66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16B"/>
                </a:solidFill>
              </a:defRPr>
            </a:pPr>
            <a:r>
              <a:rPr sz="1125" b="1">
                <a:solidFill>
                  <a:srgbClr val="5B616B"/>
                </a:solidFill>
              </a:rPr>
              <a:t>Registrations processed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AE204-0081-4C76-A768-3DFC4A37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482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5DA83-D35B-41E4-90DF-106EF7C6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2766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26DFC-FDE1-4A2D-908F-3EA9830F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16B"/>
                </a:solidFill>
              </a:defRPr>
            </a:pPr>
            <a:r>
              <a:rPr sz="1125" b="1">
                <a:solidFill>
                  <a:srgbClr val="5B616B"/>
                </a:solidFill>
              </a:rPr>
              <a:t>Active events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F3330-C2A3-41A3-B31E-14402675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12D5F-0A62-40F5-9F51-882207E7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24250"/>
            <a:ext cx="32766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F7776-2889-4D36-B45B-C5240926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95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16B"/>
                </a:solidFill>
              </a:defRPr>
            </a:pPr>
            <a:r>
              <a:rPr sz="1125" b="1">
                <a:solidFill>
                  <a:srgbClr val="5B616B"/>
                </a:solidFill>
              </a:rPr>
              <a:t>Organizers with events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99233-2A5C-4CF8-8CA8-D92530E3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00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27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1BF8D5-8BE4-403C-98E0-11FE1FEC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24250"/>
            <a:ext cx="32766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E357AF-6A62-4694-A897-1C239FFE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16B"/>
                </a:solidFill>
              </a:defRPr>
            </a:pPr>
            <a:r>
              <a:rPr sz="1125" b="1">
                <a:solidFill>
                  <a:srgbClr val="5B616B"/>
                </a:solidFill>
              </a:rPr>
              <a:t>Paid users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E1B99A-FF16-4939-B000-68B1C079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00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3EF54-839A-446B-A296-04A0A8DB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What these numbers mean: EventSlot has real organizer and attendee activity, but this is still an early-validation business, not yet a mature revenue company.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5B1E51-E0E7-4BE0-B547-E7AAFFF5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EventSlot investor deck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213564-E2E3-41EC-8E33-F17AC000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851397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6F79C-98C2-4F84-A02C-5AD38DBB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16B"/>
                </a:solidFill>
              </a:defRPr>
            </a:pPr>
            <a:r>
              <a:rPr sz="900" b="1">
                <a:solidFill>
                  <a:srgbClr val="5B616B"/>
                </a:solidFill>
              </a:rPr>
              <a:t>USAGE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BF1B2-6A69-467F-8E70-6D68C41E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product is already supporting real events with meaningful attendance volume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239000"/>
                <a:gridCol w="1524000"/>
                <a:gridCol w="2057400"/>
              </a:tblGrid>
              <a:tr h="6477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Event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Confirmed attendees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What it shows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Disruptors Convention 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92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5B616B"/>
                          </a:solidFill>
                        </a:rPr>
                        <a:t>Large organizer event handled live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Disruptors Convention 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5B616B"/>
                          </a:solidFill>
                        </a:rPr>
                        <a:t>Repeat-like usage at meaningful size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Children's Day Carnival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5B616B"/>
                          </a:solidFill>
                        </a:rPr>
                        <a:t>Broader event-type applicability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Tum Sports Tournament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5B616B"/>
                          </a:solidFill>
                        </a:rPr>
                        <a:t>Operational relevance beyond one niche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B7D4F-000C-460D-9B1C-DCF8E754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This is still early traction, but it is better than a concept story: real organizers have already trusted EventSlot with live event operations.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2C426-FDFB-43F6-B846-5AE1C37C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EventSlot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7CC01-3B2A-41F3-B9B6-52C43A5F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762913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C51EE-9476-4168-AC8D-0F2BC79E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16B"/>
                </a:solidFill>
              </a:defRPr>
            </a:pPr>
            <a:r>
              <a:rPr sz="900" b="1">
                <a:solidFill>
                  <a:srgbClr val="5B616B"/>
                </a:solidFill>
              </a:rPr>
              <a:t>BEACHHEAD 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99398-CB9C-43F9-9E92-10F7386C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EventSlot should focus first on organizer segments with repeated coordination pain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4C9F8-0EC5-4EC7-B5F4-BF13FD67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The early opportunity is not every event organizer. It is the organizer who needs structure and repeats the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0E867-E653-4A3D-9716-A8DDA097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314950" cy="12763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CDA33-BC44-453B-AC57-BDBB2007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Churches and ministry teams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D0F12-6FA3-4B74-AB58-C9135B8A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High coordination needs, repeated events, volunteer-heavy operations.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92984-DCA0-4DB3-B1B2-0546FD1E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314950" cy="12763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071D6-4D52-406C-9F39-E099B0D8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Universities and student organizations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51E0E-05F1-4A5E-801C-47AD183E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Multiple events, capacity issues, check-in and communication needs.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415D0-6125-4AEA-AEBE-A343DCF7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5314950" cy="12763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1A7B6-781D-473F-945F-71A15DD4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81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Training providers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F65F1-393F-486D-90FB-637CC3BC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62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Registration, payments, attendance, and follow-up all matter.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0642F-AB6E-495C-8001-C53CDBD2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5314950" cy="12763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A9A0A-92E6-4498-BDBC-5277E1FA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Independent community organizers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938AF-7EBB-4EAF-A19B-70B5EDC1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815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Need one workflow instead of improvised admin across several tools.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AF8D1-4986-463F-8F20-975C0D6F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EventSlot investor deck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D4A10-02A9-452A-8B09-5221405E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281653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307B8-C250-4187-A824-E3D04384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16B"/>
                </a:solidFill>
              </a:defRPr>
            </a:pPr>
            <a:r>
              <a:rPr sz="900" b="1">
                <a:solidFill>
                  <a:srgbClr val="5B616B"/>
                </a:solidFill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DEFF6-DAE3-47E2-A768-7B1DB23D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Event organization is becoming digital, but the workflow is still fragmented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98A7A-F06A-4131-904F-7417D190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EventSlot exists because organizers increasingly expect digital coordination, yet many still operate with disconnected tools.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0BC04-0DBB-4578-90B1-34E6B0B8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031E9-582B-4052-99F6-5A186180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516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Organizers want one link, one dashboard, and one source of truth.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F4873-34AF-4659-A577-BD9D8BC8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3A65F-BFF0-4466-AE7F-275EEC22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516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Attendees increasingly expect fast confirmation and smoother event-day 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07856-8224-4A2E-8556-CA192FFC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5E052-4CEC-4877-BF79-00D71892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516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Mobile payments and digital registration behaviors are more normal than they were a few years ago.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972AE-58C8-4080-B0F2-2362C732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11B2B-7F07-49C5-B775-3D7922EF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516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Communities, churches, universities, and training providers run recurring events but often lack purpose-built operating software.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11E82-8FB2-480E-95BB-114566E6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47900"/>
            <a:ext cx="4171950" cy="3219450"/>
          </a:xfrm>
          <a:prstGeom xmlns:a="http://schemas.openxmlformats.org/drawingml/2006/main" prst="roundRect">
            <a:avLst>
              <a:gd name="adj" fmla="val 177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76CFC-B96D-4AD6-9246-E932548B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955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What this means commercially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7D72E-F0E7-42A0-BC4C-9E16B05D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38450"/>
            <a:ext cx="346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FC54C-D48B-4402-83B4-A9559C52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0515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The opening is not just ticketing. It is operational software for organizers who need registration, control, and visibility without enterprise complexity.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DAF053-E573-4E61-88A4-B39908D3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053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That is the gap EventSlot is trying to own early.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9F724-1FBC-419F-AF37-DDA33562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EventSlot investor deck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32145-4C37-405F-B746-91E482EE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946518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36405-8A62-4622-89DC-9EF31801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16B"/>
                </a:solidFill>
              </a:defRPr>
            </a:pPr>
            <a:r>
              <a:rPr sz="900" b="1">
                <a:solidFill>
                  <a:srgbClr val="5B616B"/>
                </a:solidFill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373DF-44BC-4376-8C2E-F61BF6B8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goal of this round is to prove which revenue streams convert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C9640-87B5-4E86-A607-AC5A703D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EventSlot already has a paid path, but it still needs stronger commercial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46AC8-3694-4116-A80A-62C179DB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3149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F6857-172A-486C-B640-99D8A615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Paid organizer plans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6197B-67A0-4C4C-9853-3FFA5718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Convert organizers who need more capacity, more control, or premium workflows.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0CEC9-940E-47E1-9DE7-DA290DFC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3149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FF300-1973-477A-B2DA-0D153897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Premium 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99E79-D7DD-4DA0-AA67-CA9C0439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Reporting, advanced workflow controls, or team-grade tools that solve real organizer pain.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8584D-9655-4F50-BC9E-02ACFF6F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53149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80E48-E6E1-4D49-A664-32D6B02E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Transaction-linked revenue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B7A5E-D659-4DE9-A727-0F5B4D0A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194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Use paid-event workflows to create revenue tied to event activity.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52E92-F0DF-4CB8-B367-9963ECEE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53149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DFAF10-3C2D-4081-9573-6471F48B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Institutional packages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7D737-847A-4020-95F4-638FF677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Over time, sell structured packages to repeat organizer groups and institutions.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9BE9F-F461-4B09-BAE0-198A7952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EventSlot investor deck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27AA61-DCF2-4EE9-9B20-54DACB0D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806458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2ABA83-967E-4A7E-AE65-ED0AEE40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16B"/>
                </a:solidFill>
              </a:defRPr>
            </a:pPr>
            <a:r>
              <a:rPr sz="900" b="1">
                <a:solidFill>
                  <a:srgbClr val="5B616B"/>
                </a:solidFill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6B40E-11E9-43B8-9CAB-800585F1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first growth engine should be focused, founder-led, and segment-specific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6083A-0C85-4874-8F58-23A6AE05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At this stage, repeatable customer understanding matters more than broad awareness spend.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68162-9203-48B4-B8DA-42C0248D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276600" cy="30861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05500-0852-4095-B486-44A3D6C3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Phase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18727-B366-4E4C-A314-D65FB3EA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Founder-led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FAF21-BC0A-4732-B97D-EBBFFD09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9D679-C084-4045-B0FD-2C43F68E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0995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Direct outreach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CA48E-45A2-4543-9309-B4938426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C49C5-C634-4FA6-B2F3-265737D3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Live 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3CECB-A5B0-4B2E-B589-242B5D18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B178C-70E6-426D-9E5F-8848498B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Hands-on onboarding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0925C-B19D-4D2D-ADDA-DCC5B25C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7F76B-3015-4792-86A3-36D7656E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Pilot-style event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BD0FC-361A-4EC1-B7A8-2354304F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24100"/>
            <a:ext cx="3276600" cy="30861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0B635-1E25-435C-A6DA-FB0E63A2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336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Phase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33611E-FACD-403E-B1AE-6A70F906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Beachhead expansion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59D85-4BC8-44FA-A63F-4F689F86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29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D4221-6884-4C6B-A0C8-392AA1A6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0995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Church/community clusters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B4EEE0-1A99-4AB2-AA0C-DF6CFB5E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90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10A1F1-CAF8-414A-8F69-4BDEEBFC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7190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University groups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272A16-7D4E-407A-B094-AC3412A0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529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1014FC-CB0C-4FFA-87E5-157D8BB3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3385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Training providers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FEF094-4DD4-4F14-B9B9-809A0150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148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96153C-4E44-45A4-B714-BC2BD0B6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9580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Referral-driven growth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97BDB9-7DC3-46F7-BD3D-29EF5B4F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3276600" cy="30861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0CC173-3070-4903-853F-9224C850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Phase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3FF436-C1E6-4309-8F60-D3C0AF0E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194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Commercial discipline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18175F-B60A-419E-8A4D-72A45596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50E72A-AFE2-4A3E-B723-CBB24FA1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Paid conversion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C7FBDE-C0BC-43AC-A0A0-4F86A89C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90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3FB5C5-DF77-4981-AADB-EE0601CF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7190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Partner channels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2D77CD-530A-49BA-A7DB-EF9A3ECE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529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B96B54-F203-4BC7-B3F5-C2B351D8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3385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Stronger onboarding assets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9F4951-9903-4D0D-B37F-FA0E7F07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5FD508-9E1B-40FE-A231-1287A27B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Support and retention loops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EFF536-51AA-41AD-99B9-B7B94093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EventSlot investor deck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2760C4-03E7-411D-96D6-5F1F61B6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355193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379E6-64C3-4DB6-B92C-EDA810B0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16B"/>
                </a:solidFill>
              </a:defRPr>
            </a:pPr>
            <a:r>
              <a:rPr sz="900" b="1">
                <a:solidFill>
                  <a:srgbClr val="5B616B"/>
                </a:solidFill>
              </a:rPr>
              <a:t>USE OF FUNDS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44F2F-7E01-44E2-B793-8A948358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This round is designed to buy 12 months of disciplined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2594E-1443-4617-9C36-2D92DEE9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The spending logic is simple: strengthen product, acquire organizers, support customers, and build operating credibility.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5905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ca361bbb3c474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AB129-6893-41E9-BB99-6834BA61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66950"/>
            <a:ext cx="411480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CC742-48F6-49D9-A585-4863D203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95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Allocation logic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83499-9095-46CD-8706-1BFD942E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384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57F1C-9B1A-42D6-B089-BF8E5BF3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861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90720-4D81-42BF-AA7D-59D1B03F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67050"/>
            <a:ext cx="316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Product gets the largest share because product quality still drives conversion and retention.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D8559-BB9C-4FBA-A3D7-DF71D81F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481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25EA4-F8DC-4C1C-A09A-34EA58F1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316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Growth spend is targeted toward organizer acquisition, demos, onboarding, and partnerships.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944F6-A506-4105-BB85-F13C312A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101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76F3A-A1E8-4750-8325-9F55C724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91050"/>
            <a:ext cx="316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Security, support, and infrastructure stay in the plan because investors expect operational seriousness.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A34FD-61E2-47A0-AB97-37D84FEB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EventSlot investor deck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47F52-8F78-418A-A1E7-9F1348EF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667607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E1EBE6-F42C-4C32-878A-66A53826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16B"/>
                </a:solidFill>
              </a:defRPr>
            </a:pPr>
            <a:r>
              <a:rPr sz="900" b="1">
                <a:solidFill>
                  <a:srgbClr val="5B616B"/>
                </a:solidFill>
              </a:rPr>
              <a:t>12-MONTH 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B3558-C3C7-484A-B10A-0F6FA170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This round should prove that EventSlot can become a repeatable commercial business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B11BC-EB6F-4E50-9526-1820B407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The outcome is not just more activity. It is stronger organizer retention, clearer monetization, and a better next-round 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C6AB9-80CA-4157-BDBF-B41F3479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5A3E1-88D2-43EB-A026-C38E2742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D71D4-AC67-4E59-A0CA-77087213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Improve reliability, event-day operations, and the quality of organizer workflows.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E1E43-4D71-47BC-B814-9856C1BD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204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50646-15C9-4ABC-9B3B-D713E600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Growth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F3B74-0CE2-4576-84C6-907E7D44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9087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Increase active organizers and repeat event creation in focused segments.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A73C1-69FE-4A0A-9965-04A7C85A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68C65-3307-4EC7-B575-CB0B7071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290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Revenue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D2B83-F74E-4C1C-B2A6-14CC7809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002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Turn early product value into more paid conversions and clearer pricing proof.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4B8DF-36CC-4199-8B4C-EEC800D3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D995C-37C2-4E6F-94E1-AC3CCAE7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Operations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7CEBB-5C38-49A6-8474-C0D38772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2917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Tighten support response, security posture, and reporting discipline.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AE6A32-B5D0-4033-873B-20759E50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FC569-C8BD-4A8B-BC28-19640DDF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673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Fundraising readiness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5DBC00-0D17-4612-BC44-B0232B1D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4832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Build a cleaner case for a stronger follow-on round.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28B42-9B36-4711-97C0-A1463BEA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EventSlot investor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E53E4-DB3A-4E90-9849-92CD68B4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489577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05FC46-641F-40ED-BEBF-2055440C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16B"/>
                </a:solidFill>
              </a:defRPr>
            </a:pPr>
            <a:r>
              <a:rPr sz="900" b="1">
                <a:solidFill>
                  <a:srgbClr val="5B616B"/>
                </a:solidFill>
              </a:rPr>
              <a:t>THE 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58760-09A0-4EA5-8B89-F1BBD23E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EventSlot is raising USD 100,000 to move from working product to stronger commercial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D09D7-296D-439E-9F0E-8928FA35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2385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6E483-4EB6-409A-94C7-A685008A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Raise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C9B9A-F0CE-4EAA-B0A1-F91BD792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USD 100,000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D3EC7-5DD9-4A06-829A-325A28DF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Pre-money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F5743-13A7-4D19-AC86-AD3DBCE7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USD 900,000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6D06F-4369-4D72-9170-0B83B00D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Equity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5D07B-78E7-4A78-8DE0-BCE7F337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10%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08E20-BC43-41FD-B2DE-D4120DAC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72580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6459B-1431-4FAB-A46B-5432EF46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Why this round 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257FB-ED5D-4EA2-83DA-D83E164A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95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ADA3B-DDED-4B0A-B3DF-F353DA66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76550"/>
            <a:ext cx="621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The product already works and has live usage.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75739-3CB7-4078-AA41-68725CDF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B8107-BE27-4B58-AB19-56AFA55F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38500"/>
            <a:ext cx="621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The company now needs focused capital to turn early adoption into stronger repeatability and paid demand.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5CBFE-C49F-478A-863D-A253C1E8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47B5B-1756-46E3-AFDE-D5EF9D41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00450"/>
            <a:ext cx="621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 small, disciplined round fits the stage better than pretending EventSlot is already at full seed-scale maturity.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F4342-FB09-4002-86A8-4062D064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Target runway: 12 months base, stretchable toward 18 months with disciplined execution.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6EFFC-F26D-4031-9D26-4453F2B2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EventSlot investor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98D18C-3AA7-4BDD-8364-94A11CB0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570364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0B6A6-BB7C-4A4A-A82A-877ECEF0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16B"/>
                </a:solidFill>
              </a:defRPr>
            </a:pPr>
            <a:r>
              <a:rPr sz="900" b="1">
                <a:solidFill>
                  <a:srgbClr val="5B616B"/>
                </a:solidFill>
              </a:rPr>
              <a:t>EVENTSLOT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C2601-308C-4FBC-BE6A-4BFA86EC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723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A working product.</a:t>
            </a:r>
          </a:p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Real organizer usage.</a:t>
            </a:r>
          </a:p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A focused round to prove the business can scale.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4E777-4611-43B5-8602-84ED24A9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16B"/>
                </a:solidFill>
              </a:defRPr>
            </a:pPr>
            <a:r>
              <a:rPr sz="1800" b="0">
                <a:solidFill>
                  <a:srgbClr val="5B616B"/>
                </a:solidFill>
              </a:rPr>
              <a:t>Raising USD 100,000 at a USD 900,000 pre-money valuation.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8D968-87EC-427D-97B1-56409A37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62100"/>
            <a:ext cx="28575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B7B27-F485-4DAE-B2B3-4244E703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What this unlocks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1C0E1-14F3-4C4C-8851-B4815973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44349-F165-4710-9B5F-77CB2729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717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Stronger product reliability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DFACA-D8D5-4865-8700-76E86CB3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50ACC-8321-438B-BF01-D47C8D7E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3365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More active organizers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83D77-4B97-4874-9E55-58380A72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14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2CF8C-DF81-4296-9F16-82FC4C1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956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Cleaner paid conversion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38E2E-37C1-4C1C-8722-F64E6BB9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76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4094B-7555-4E47-B9D2-F03AFAC3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5755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Better next-round readiness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74ACE-E847-4779-9ED0-A7DA91D0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daniel@eventslot</a:t>
            </a:r>
          </a:p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Nairobi, Kenya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D0D2AB-685A-4DA7-9CE4-B132C294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EventSlot | Investor package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A3947-A22C-4386-9102-6CF13813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51772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2026-08-06T11:33:46.2410000Z</dcterms:created>
  <dcterms:modified xsi:type="dcterms:W3CDTF">2026-08-06T11:33:46.2420000Z</dcterms:modified>
</coreProperties>
</file>